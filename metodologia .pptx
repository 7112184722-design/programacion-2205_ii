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2" r:id="rId2"/>
    <p:sldId id="292" r:id="rId3"/>
    <p:sldId id="283" r:id="rId4"/>
    <p:sldId id="287" r:id="rId5"/>
    <p:sldId id="291" r:id="rId6"/>
    <p:sldId id="265" r:id="rId7"/>
    <p:sldId id="282" r:id="rId8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6C546-A4FB-4B34-A4B4-E979012AA61C}" type="datetimeFigureOut">
              <a:rPr lang="es-PE" smtClean="0"/>
              <a:t>24/08/2025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F820A-144A-4441-A7AE-D747DCE9CA6D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6C546-A4FB-4B34-A4B4-E979012AA61C}" type="datetimeFigureOut">
              <a:rPr lang="es-PE" smtClean="0"/>
              <a:t>24/08/2025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F820A-144A-4441-A7AE-D747DCE9CA6D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6C546-A4FB-4B34-A4B4-E979012AA61C}" type="datetimeFigureOut">
              <a:rPr lang="es-PE" smtClean="0"/>
              <a:t>24/08/2025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F820A-144A-4441-A7AE-D747DCE9CA6D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6C546-A4FB-4B34-A4B4-E979012AA61C}" type="datetimeFigureOut">
              <a:rPr lang="es-PE" smtClean="0"/>
              <a:t>24/08/2025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F820A-144A-4441-A7AE-D747DCE9CA6D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6C546-A4FB-4B34-A4B4-E979012AA61C}" type="datetimeFigureOut">
              <a:rPr lang="es-PE" smtClean="0"/>
              <a:t>24/08/2025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F820A-144A-4441-A7AE-D747DCE9CA6D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6C546-A4FB-4B34-A4B4-E979012AA61C}" type="datetimeFigureOut">
              <a:rPr lang="es-PE" smtClean="0"/>
              <a:t>24/08/2025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F820A-144A-4441-A7AE-D747DCE9CA6D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6C546-A4FB-4B34-A4B4-E979012AA61C}" type="datetimeFigureOut">
              <a:rPr lang="es-PE" smtClean="0"/>
              <a:t>24/08/2025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F820A-144A-4441-A7AE-D747DCE9CA6D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6C546-A4FB-4B34-A4B4-E979012AA61C}" type="datetimeFigureOut">
              <a:rPr lang="es-PE" smtClean="0"/>
              <a:t>24/08/2025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F820A-144A-4441-A7AE-D747DCE9CA6D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6C546-A4FB-4B34-A4B4-E979012AA61C}" type="datetimeFigureOut">
              <a:rPr lang="es-PE" smtClean="0"/>
              <a:t>24/08/2025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F820A-144A-4441-A7AE-D747DCE9CA6D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6C546-A4FB-4B34-A4B4-E979012AA61C}" type="datetimeFigureOut">
              <a:rPr lang="es-PE" smtClean="0"/>
              <a:t>24/08/2025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F820A-144A-4441-A7AE-D747DCE9CA6D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6C546-A4FB-4B34-A4B4-E979012AA61C}" type="datetimeFigureOut">
              <a:rPr lang="es-PE" smtClean="0"/>
              <a:t>24/08/2025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F820A-144A-4441-A7AE-D747DCE9CA6D}" type="slidenum">
              <a:rPr lang="es-PE" smtClean="0"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66C546-A4FB-4B34-A4B4-E979012AA61C}" type="datetimeFigureOut">
              <a:rPr lang="es-PE" smtClean="0"/>
              <a:t>24/08/2025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F820A-144A-4441-A7AE-D747DCE9CA6D}" type="slidenum">
              <a:rPr lang="es-PE" smtClean="0"/>
              <a:t>‹Nº›</a:t>
            </a:fld>
            <a:endParaRPr lang="es-P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10"/>
          <p:cNvSpPr/>
          <p:nvPr/>
        </p:nvSpPr>
        <p:spPr>
          <a:xfrm>
            <a:off x="4401203" y="376820"/>
            <a:ext cx="2823971" cy="7772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bject 11"/>
          <p:cNvSpPr/>
          <p:nvPr/>
        </p:nvSpPr>
        <p:spPr>
          <a:xfrm>
            <a:off x="-3048" y="1215843"/>
            <a:ext cx="12195048" cy="16702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object 9"/>
          <p:cNvSpPr txBox="1"/>
          <p:nvPr/>
        </p:nvSpPr>
        <p:spPr>
          <a:xfrm>
            <a:off x="857960" y="1571110"/>
            <a:ext cx="10473032" cy="959698"/>
          </a:xfrm>
          <a:prstGeom prst="rect">
            <a:avLst/>
          </a:prstGeom>
        </p:spPr>
        <p:txBody>
          <a:bodyPr wrap="square" lIns="0" tIns="21621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s-ES" sz="48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REVISIÓN SISTEMÁTICA</a:t>
            </a:r>
            <a:endParaRPr kumimoji="0" lang="es-MX" sz="2400" b="0" i="0" u="none" strike="noStrike" kern="1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endParaRPr kumimoji="0" lang="es-PE" sz="3200" b="0" i="1" u="none" strike="noStrike" kern="1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object 5"/>
          <p:cNvSpPr txBox="1"/>
          <p:nvPr/>
        </p:nvSpPr>
        <p:spPr>
          <a:xfrm>
            <a:off x="3394232" y="3029275"/>
            <a:ext cx="4837912" cy="3828725"/>
          </a:xfrm>
          <a:prstGeom prst="rect">
            <a:avLst/>
          </a:prstGeom>
        </p:spPr>
        <p:txBody>
          <a:bodyPr wrap="square" lIns="0" tIns="14001" rIns="0" bIns="0" rtlCol="0">
            <a:no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PE" sz="1600" b="1" i="0" u="none" strike="noStrike" kern="1200" cap="none" spc="-3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INTEGRANTES:</a:t>
            </a:r>
          </a:p>
          <a:p>
            <a:pPr marL="1270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PE" sz="1600" b="1" i="0" u="none" strike="noStrike" kern="1200" cap="none" spc="-3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HUAMAN RIMARACHIN MILVER</a:t>
            </a:r>
          </a:p>
          <a:p>
            <a:pPr marL="1270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PE" sz="1600" b="1" i="0" u="none" strike="noStrike" kern="1200" cap="none" spc="-3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MALDONADO TICLIAHUANCA HELKIN</a:t>
            </a:r>
          </a:p>
          <a:p>
            <a:pPr marL="1270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PE" sz="1600" b="1" i="0" u="none" strike="noStrike" kern="1200" cap="none" spc="-3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ORTIZ ZAVALETA LESLI</a:t>
            </a:r>
          </a:p>
          <a:p>
            <a:pPr marL="1270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PE" sz="1600" b="1" i="0" u="none" strike="noStrike" kern="1200" cap="none" spc="-3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RIVERA JIMENEZ YANET</a:t>
            </a:r>
          </a:p>
          <a:p>
            <a:pPr marL="1270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PE" sz="1600" b="1" i="0" u="none" strike="noStrike" kern="1200" cap="none" spc="-3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SANTILLAN GIL ISAAC</a:t>
            </a:r>
          </a:p>
          <a:p>
            <a:pPr marL="1270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PE" sz="1600" b="1" i="0" u="none" strike="noStrike" kern="1200" cap="none" spc="-3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TARRILLO REINA MAYRA</a:t>
            </a:r>
          </a:p>
          <a:p>
            <a:pPr marL="1270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s-PE" sz="1600" b="1" spc="-3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TUESTA CHICHIPE ARACELY</a:t>
            </a:r>
            <a:endParaRPr kumimoji="0" lang="es-PE" sz="1600" b="1" i="0" u="none" strike="noStrike" kern="1200" cap="none" spc="-3" normalizeH="0" baseline="0" noProof="0" dirty="0">
              <a:ln>
                <a:noFill/>
              </a:ln>
              <a:solidFill>
                <a:srgbClr val="001F5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270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PE" sz="1600" b="1" i="0" u="none" strike="noStrike" kern="1200" cap="none" spc="-3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VASQUEZ GUEVARA YOEL</a:t>
            </a:r>
          </a:p>
          <a:p>
            <a:pPr marL="1270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s-PE" sz="1600" b="1" spc="-3" dirty="0">
                <a:solidFill>
                  <a:srgbClr val="001F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endParaRPr kumimoji="0" lang="es-PE" sz="1600" b="1" i="0" u="none" strike="noStrike" kern="1200" cap="none" spc="-3" normalizeH="0" baseline="0" noProof="0" dirty="0">
              <a:ln>
                <a:noFill/>
              </a:ln>
              <a:solidFill>
                <a:srgbClr val="001F5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270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PE" sz="1600" b="1" i="0" u="none" strike="noStrike" kern="1200" cap="none" spc="-3" normalizeH="0" baseline="0" noProof="0" dirty="0">
              <a:ln>
                <a:noFill/>
              </a:ln>
              <a:solidFill>
                <a:srgbClr val="001F5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2700" marR="0" lvl="0" indent="0" algn="ctr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PE" sz="1600" b="1" i="0" u="none" strike="noStrike" kern="1200" cap="none" spc="-3" normalizeH="0" baseline="0" noProof="0" dirty="0">
              <a:ln>
                <a:noFill/>
              </a:ln>
              <a:solidFill>
                <a:srgbClr val="001F5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2700" marR="0" lvl="0" indent="0" algn="ctr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29641" y="522779"/>
            <a:ext cx="4439193" cy="450466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algn="ctr"/>
            <a:r>
              <a:rPr lang="es-MX" sz="2000" dirty="0">
                <a:solidFill>
                  <a:srgbClr val="002060"/>
                </a:solidFill>
                <a:latin typeface="Amasis MT Pro Black" panose="02040A04050005020304" pitchFamily="18" charset="0"/>
              </a:rPr>
              <a:t>¿Introducción?</a:t>
            </a:r>
            <a:endParaRPr lang="es-PE" sz="2000" dirty="0">
              <a:solidFill>
                <a:srgbClr val="002060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4" name="object 10"/>
          <p:cNvSpPr/>
          <p:nvPr/>
        </p:nvSpPr>
        <p:spPr>
          <a:xfrm>
            <a:off x="9650840" y="183960"/>
            <a:ext cx="1955509" cy="5101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5680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29641" y="522779"/>
            <a:ext cx="4439193" cy="450466"/>
          </a:xfrm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s-MX" sz="2000" dirty="0">
                <a:solidFill>
                  <a:srgbClr val="002060"/>
                </a:solidFill>
                <a:latin typeface="Amasis MT Pro Black" panose="02040A04050005020304" pitchFamily="18" charset="0"/>
              </a:rPr>
              <a:t>¿Qué es una Revisión Sistemática?</a:t>
            </a:r>
            <a:endParaRPr lang="es-PE" sz="2000" dirty="0">
              <a:solidFill>
                <a:srgbClr val="002060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4" name="object 10"/>
          <p:cNvSpPr/>
          <p:nvPr/>
        </p:nvSpPr>
        <p:spPr>
          <a:xfrm>
            <a:off x="9650840" y="183960"/>
            <a:ext cx="1955509" cy="5101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EF0591D-CAD1-4052-9BC3-986230962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641" y="1315862"/>
            <a:ext cx="706700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Tipo de investigación científica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 que recopila y analiza información disponible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Objetivo: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 Responder una pregunta de investigación específica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Características:</a:t>
            </a: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Emplea procedimientos claros y estructurados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Identifica, selecciona y analiza estudios de manera crítica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Reúne y procesa datos extraídos sistemáticamente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0"/>
          <p:cNvSpPr/>
          <p:nvPr/>
        </p:nvSpPr>
        <p:spPr>
          <a:xfrm>
            <a:off x="9650840" y="183960"/>
            <a:ext cx="1955509" cy="5101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35B0C38A-7CA8-41E5-81CE-37CEEF5AC120}"/>
              </a:ext>
            </a:extLst>
          </p:cNvPr>
          <p:cNvSpPr txBox="1">
            <a:spLocks/>
          </p:cNvSpPr>
          <p:nvPr/>
        </p:nvSpPr>
        <p:spPr>
          <a:xfrm>
            <a:off x="742813" y="353399"/>
            <a:ext cx="4042045" cy="5424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>
                <a:solidFill>
                  <a:srgbClr val="002060"/>
                </a:solidFill>
                <a:latin typeface="Amasis MT Pro Black" panose="02040A04050005020304" pitchFamily="18" charset="0"/>
              </a:rPr>
              <a:t>PROCEDIMIENTO DE UNA REVISIÓN SISTEMÁTICA</a:t>
            </a:r>
            <a:endParaRPr lang="es-PE" sz="2000" dirty="0">
              <a:solidFill>
                <a:srgbClr val="002060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9EC7FFF-4C9F-4BB9-AD87-9C968E37B098}"/>
              </a:ext>
            </a:extLst>
          </p:cNvPr>
          <p:cNvSpPr txBox="1"/>
          <p:nvPr/>
        </p:nvSpPr>
        <p:spPr>
          <a:xfrm>
            <a:off x="742813" y="1285875"/>
            <a:ext cx="504348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s-MX" b="1" dirty="0">
                <a:latin typeface="Aharoni" panose="02010803020104030203" pitchFamily="2" charset="-79"/>
                <a:cs typeface="Aharoni" panose="02010803020104030203" pitchFamily="2" charset="-79"/>
              </a:rPr>
              <a:t>🎯 PREGUNTA</a:t>
            </a:r>
            <a:r>
              <a:rPr lang="es-MX" dirty="0">
                <a:latin typeface="Aharoni" panose="02010803020104030203" pitchFamily="2" charset="-79"/>
                <a:cs typeface="Aharoni" panose="02010803020104030203" pitchFamily="2" charset="-79"/>
              </a:rPr>
              <a:t> → Formular pregunta PICO (Población-Intervención-Comparación-</a:t>
            </a:r>
            <a:r>
              <a:rPr lang="es-MX" dirty="0" err="1">
                <a:latin typeface="Aharoni" panose="02010803020104030203" pitchFamily="2" charset="-79"/>
                <a:cs typeface="Aharoni" panose="02010803020104030203" pitchFamily="2" charset="-79"/>
              </a:rPr>
              <a:t>Outcome</a:t>
            </a:r>
            <a:r>
              <a:rPr lang="es-MX" dirty="0">
                <a:latin typeface="Aharoni" panose="02010803020104030203" pitchFamily="2" charset="-79"/>
                <a:cs typeface="Aharoni" panose="02010803020104030203" pitchFamily="2" charset="-79"/>
              </a:rPr>
              <a:t>)</a:t>
            </a:r>
          </a:p>
          <a:p>
            <a:pPr marL="342900" indent="-342900">
              <a:buFont typeface="+mj-lt"/>
              <a:buAutoNum type="alphaUcPeriod"/>
            </a:pPr>
            <a:r>
              <a:rPr lang="es-MX" b="1" dirty="0">
                <a:latin typeface="Aharoni" panose="02010803020104030203" pitchFamily="2" charset="-79"/>
                <a:cs typeface="Aharoni" panose="02010803020104030203" pitchFamily="2" charset="-79"/>
              </a:rPr>
              <a:t>📋 PROTOCOLO</a:t>
            </a:r>
            <a:r>
              <a:rPr lang="es-MX" dirty="0">
                <a:latin typeface="Aharoni" panose="02010803020104030203" pitchFamily="2" charset="-79"/>
                <a:cs typeface="Aharoni" panose="02010803020104030203" pitchFamily="2" charset="-79"/>
              </a:rPr>
              <a:t> → Registrar protocolo y definir criterios de inclusión/exclusión</a:t>
            </a:r>
          </a:p>
          <a:p>
            <a:pPr marL="342900" indent="-342900">
              <a:buFont typeface="+mj-lt"/>
              <a:buAutoNum type="alphaUcPeriod"/>
            </a:pPr>
            <a:r>
              <a:rPr lang="es-MX" b="1" dirty="0">
                <a:latin typeface="Aharoni" panose="02010803020104030203" pitchFamily="2" charset="-79"/>
                <a:cs typeface="Aharoni" panose="02010803020104030203" pitchFamily="2" charset="-79"/>
              </a:rPr>
              <a:t>🔍 BÚSQUEDA</a:t>
            </a:r>
            <a:r>
              <a:rPr lang="es-MX" dirty="0">
                <a:latin typeface="Aharoni" panose="02010803020104030203" pitchFamily="2" charset="-79"/>
                <a:cs typeface="Aharoni" panose="02010803020104030203" pitchFamily="2" charset="-79"/>
              </a:rPr>
              <a:t> → Consultar múltiples bases de datos con estrategia sistemática</a:t>
            </a:r>
          </a:p>
          <a:p>
            <a:pPr marL="342900" indent="-342900">
              <a:buFont typeface="+mj-lt"/>
              <a:buAutoNum type="alphaUcPeriod"/>
            </a:pPr>
            <a:r>
              <a:rPr lang="es-MX" b="1" dirty="0">
                <a:latin typeface="Aharoni" panose="02010803020104030203" pitchFamily="2" charset="-79"/>
                <a:cs typeface="Aharoni" panose="02010803020104030203" pitchFamily="2" charset="-79"/>
              </a:rPr>
              <a:t>📚 SELECCIÓN</a:t>
            </a:r>
            <a:r>
              <a:rPr lang="es-MX" dirty="0">
                <a:latin typeface="Aharoni" panose="02010803020104030203" pitchFamily="2" charset="-79"/>
                <a:cs typeface="Aharoni" panose="02010803020104030203" pitchFamily="2" charset="-79"/>
              </a:rPr>
              <a:t> → Revisar estudios por duplicado (títulos → textos completos)</a:t>
            </a:r>
          </a:p>
          <a:p>
            <a:pPr marL="342900" indent="-342900">
              <a:buFont typeface="+mj-lt"/>
              <a:buAutoNum type="alphaUcPeriod"/>
            </a:pPr>
            <a:r>
              <a:rPr lang="es-MX" b="1" dirty="0">
                <a:latin typeface="Aharoni" panose="02010803020104030203" pitchFamily="2" charset="-79"/>
                <a:cs typeface="Aharoni" panose="02010803020104030203" pitchFamily="2" charset="-79"/>
              </a:rPr>
              <a:t>📊 EXTRACCIÓN</a:t>
            </a:r>
            <a:r>
              <a:rPr lang="es-MX" dirty="0">
                <a:latin typeface="Aharoni" panose="02010803020104030203" pitchFamily="2" charset="-79"/>
                <a:cs typeface="Aharoni" panose="02010803020104030203" pitchFamily="2" charset="-79"/>
              </a:rPr>
              <a:t> → Recopilar datos usando formulario estandarizado</a:t>
            </a:r>
          </a:p>
          <a:p>
            <a:pPr marL="342900" indent="-342900">
              <a:buFont typeface="+mj-lt"/>
              <a:buAutoNum type="alphaUcPeriod"/>
            </a:pPr>
            <a:r>
              <a:rPr lang="es-MX" b="1" dirty="0">
                <a:latin typeface="Aharoni" panose="02010803020104030203" pitchFamily="2" charset="-79"/>
                <a:cs typeface="Aharoni" panose="02010803020104030203" pitchFamily="2" charset="-79"/>
              </a:rPr>
              <a:t>⚖️ EVALUACIÓN</a:t>
            </a:r>
            <a:r>
              <a:rPr lang="es-MX" dirty="0">
                <a:latin typeface="Aharoni" panose="02010803020104030203" pitchFamily="2" charset="-79"/>
                <a:cs typeface="Aharoni" panose="02010803020104030203" pitchFamily="2" charset="-79"/>
              </a:rPr>
              <a:t> → Valorar calidad y riesgo de sesgo de cada estudio</a:t>
            </a:r>
          </a:p>
          <a:p>
            <a:pPr marL="342900" indent="-342900">
              <a:buFont typeface="+mj-lt"/>
              <a:buAutoNum type="alphaUcPeriod"/>
            </a:pPr>
            <a:r>
              <a:rPr lang="es-MX" b="1" dirty="0">
                <a:latin typeface="Aharoni" panose="02010803020104030203" pitchFamily="2" charset="-79"/>
                <a:cs typeface="Aharoni" panose="02010803020104030203" pitchFamily="2" charset="-79"/>
              </a:rPr>
              <a:t>🔬 SÍNTESIS</a:t>
            </a:r>
            <a:r>
              <a:rPr lang="es-MX" dirty="0">
                <a:latin typeface="Aharoni" panose="02010803020104030203" pitchFamily="2" charset="-79"/>
                <a:cs typeface="Aharoni" panose="02010803020104030203" pitchFamily="2" charset="-79"/>
              </a:rPr>
              <a:t> → Integrar resultados (narrativa y/o metaanálisis)</a:t>
            </a:r>
          </a:p>
          <a:p>
            <a:pPr marL="342900" indent="-342900">
              <a:buFont typeface="+mj-lt"/>
              <a:buAutoNum type="alphaUcPeriod"/>
            </a:pPr>
            <a:r>
              <a:rPr lang="es-MX" b="1" dirty="0">
                <a:latin typeface="Aharoni" panose="02010803020104030203" pitchFamily="2" charset="-79"/>
                <a:cs typeface="Aharoni" panose="02010803020104030203" pitchFamily="2" charset="-79"/>
              </a:rPr>
              <a:t>📝 REPORTE</a:t>
            </a:r>
            <a:r>
              <a:rPr lang="es-MX" dirty="0">
                <a:latin typeface="Aharoni" panose="02010803020104030203" pitchFamily="2" charset="-79"/>
                <a:cs typeface="Aharoni" panose="02010803020104030203" pitchFamily="2" charset="-79"/>
              </a:rPr>
              <a:t> → Comunicar hallazgos siguiendo estándares PRISMA</a:t>
            </a:r>
          </a:p>
          <a:p>
            <a:pPr marL="342900" indent="-342900">
              <a:buFont typeface="+mj-lt"/>
              <a:buAutoNum type="alphaUcPeriod"/>
            </a:pPr>
            <a:endParaRPr lang="es-MX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36836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0"/>
          <p:cNvSpPr/>
          <p:nvPr/>
        </p:nvSpPr>
        <p:spPr>
          <a:xfrm>
            <a:off x="9650840" y="183960"/>
            <a:ext cx="1955509" cy="5101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2B97D31-46D9-4884-8898-4D07994C43B5}"/>
              </a:ext>
            </a:extLst>
          </p:cNvPr>
          <p:cNvSpPr txBox="1">
            <a:spLocks/>
          </p:cNvSpPr>
          <p:nvPr/>
        </p:nvSpPr>
        <p:spPr>
          <a:xfrm>
            <a:off x="585651" y="694111"/>
            <a:ext cx="4042045" cy="5424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>
                <a:solidFill>
                  <a:srgbClr val="002060"/>
                </a:solidFill>
                <a:latin typeface="Amasis MT Pro Black" panose="02040A04050005020304" pitchFamily="18" charset="0"/>
              </a:rPr>
              <a:t>ESTRUCTURA DE UNA REVISIÓN SISTEMÁTICA</a:t>
            </a:r>
            <a:endParaRPr lang="es-PE" sz="2000" dirty="0">
              <a:solidFill>
                <a:srgbClr val="002060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B1B1173-BAE3-4524-95EC-B493F31C6ED7}"/>
              </a:ext>
            </a:extLst>
          </p:cNvPr>
          <p:cNvSpPr txBox="1"/>
          <p:nvPr/>
        </p:nvSpPr>
        <p:spPr>
          <a:xfrm>
            <a:off x="585651" y="1476791"/>
            <a:ext cx="404204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latin typeface="Amasis MT Pro Medium" panose="02040604050005020304" pitchFamily="18" charset="0"/>
                <a:ea typeface="Artifakt Element Book" panose="020B0503050000020004" pitchFamily="34" charset="0"/>
              </a:rPr>
              <a:t>Título:</a:t>
            </a:r>
            <a:r>
              <a:rPr lang="es-MX" dirty="0">
                <a:latin typeface="Amasis MT Pro Medium" panose="02040604050005020304" pitchFamily="18" charset="0"/>
                <a:ea typeface="Artifakt Element Book" panose="020B0503050000020004" pitchFamily="34" charset="0"/>
              </a:rPr>
              <a:t> Claro, conciso e informativo</a:t>
            </a:r>
          </a:p>
          <a:p>
            <a:r>
              <a:rPr lang="es-MX" b="1" dirty="0">
                <a:latin typeface="Amasis MT Pro Medium" panose="02040604050005020304" pitchFamily="18" charset="0"/>
                <a:ea typeface="Artifakt Element Book" panose="020B0503050000020004" pitchFamily="34" charset="0"/>
              </a:rPr>
              <a:t>Resumen (</a:t>
            </a:r>
            <a:r>
              <a:rPr lang="es-MX" b="1" dirty="0" err="1">
                <a:latin typeface="Amasis MT Pro Medium" panose="02040604050005020304" pitchFamily="18" charset="0"/>
                <a:ea typeface="Artifakt Element Book" panose="020B0503050000020004" pitchFamily="34" charset="0"/>
              </a:rPr>
              <a:t>Abstract</a:t>
            </a:r>
            <a:r>
              <a:rPr lang="es-MX" b="1" dirty="0">
                <a:latin typeface="Amasis MT Pro Medium" panose="02040604050005020304" pitchFamily="18" charset="0"/>
                <a:ea typeface="Artifakt Element Book" panose="020B0503050000020004" pitchFamily="34" charset="0"/>
              </a:rPr>
              <a:t>):</a:t>
            </a:r>
            <a:r>
              <a:rPr lang="es-MX" dirty="0">
                <a:latin typeface="Amasis MT Pro Medium" panose="02040604050005020304" pitchFamily="18" charset="0"/>
                <a:ea typeface="Artifakt Element Book" panose="020B0503050000020004" pitchFamily="34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>
                <a:latin typeface="Amasis MT Pro Medium" panose="02040604050005020304" pitchFamily="18" charset="0"/>
                <a:ea typeface="Artifakt Element Book" panose="020B0503050000020004" pitchFamily="34" charset="0"/>
              </a:rPr>
              <a:t>Introducción y objetivo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>
                <a:latin typeface="Amasis MT Pro Medium" panose="02040604050005020304" pitchFamily="18" charset="0"/>
                <a:ea typeface="Artifakt Element Book" panose="020B0503050000020004" pitchFamily="34" charset="0"/>
              </a:rPr>
              <a:t>Métodos utilizados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>
                <a:latin typeface="Amasis MT Pro Medium" panose="02040604050005020304" pitchFamily="18" charset="0"/>
                <a:ea typeface="Artifakt Element Book" panose="020B0503050000020004" pitchFamily="34" charset="0"/>
              </a:rPr>
              <a:t>Resultados principales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>
                <a:latin typeface="Amasis MT Pro Medium" panose="02040604050005020304" pitchFamily="18" charset="0"/>
                <a:ea typeface="Artifakt Element Book" panose="020B0503050000020004" pitchFamily="34" charset="0"/>
              </a:rPr>
              <a:t>Conclusiones e implicaciones</a:t>
            </a:r>
          </a:p>
          <a:p>
            <a:r>
              <a:rPr lang="es-MX" b="1" dirty="0">
                <a:latin typeface="Amasis MT Pro Medium" panose="02040604050005020304" pitchFamily="18" charset="0"/>
                <a:ea typeface="Artifakt Element Book" panose="020B0503050000020004" pitchFamily="34" charset="0"/>
              </a:rPr>
              <a:t>Introducción:</a:t>
            </a:r>
            <a:r>
              <a:rPr lang="es-MX" dirty="0">
                <a:latin typeface="Amasis MT Pro Medium" panose="02040604050005020304" pitchFamily="18" charset="0"/>
                <a:ea typeface="Artifakt Element Book" panose="020B0503050000020004" pitchFamily="34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>
                <a:latin typeface="Amasis MT Pro Medium" panose="02040604050005020304" pitchFamily="18" charset="0"/>
                <a:ea typeface="Artifakt Element Book" panose="020B0503050000020004" pitchFamily="34" charset="0"/>
              </a:rPr>
              <a:t>Antecedentes del tema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>
                <a:latin typeface="Amasis MT Pro Medium" panose="02040604050005020304" pitchFamily="18" charset="0"/>
                <a:ea typeface="Artifakt Element Book" panose="020B0503050000020004" pitchFamily="34" charset="0"/>
              </a:rPr>
              <a:t>Problema de investigación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>
                <a:latin typeface="Amasis MT Pro Medium" panose="02040604050005020304" pitchFamily="18" charset="0"/>
                <a:ea typeface="Artifakt Element Book" panose="020B0503050000020004" pitchFamily="34" charset="0"/>
              </a:rPr>
              <a:t>Objetivos específicos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7295E96-29F0-44B1-91FB-3E43DAC7A0D1}"/>
              </a:ext>
            </a:extLst>
          </p:cNvPr>
          <p:cNvSpPr txBox="1"/>
          <p:nvPr/>
        </p:nvSpPr>
        <p:spPr>
          <a:xfrm>
            <a:off x="6095999" y="1305341"/>
            <a:ext cx="578548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latin typeface="Amasis MT Pro Medium" panose="02040604050005020304" pitchFamily="18" charset="0"/>
              </a:rPr>
              <a:t>Metodología (Sección Crítica)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>
                <a:latin typeface="Amasis MT Pro Medium" panose="02040604050005020304" pitchFamily="18" charset="0"/>
              </a:rPr>
              <a:t>Protocolo de revisión</a:t>
            </a:r>
            <a:r>
              <a:rPr lang="es-MX" dirty="0">
                <a:latin typeface="Amasis MT Pro Medium" panose="02040604050005020304" pitchFamily="18" charset="0"/>
              </a:rPr>
              <a:t> (registro en bases como prospero)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>
                <a:latin typeface="Amasis MT Pro Medium" panose="02040604050005020304" pitchFamily="18" charset="0"/>
              </a:rPr>
              <a:t>Criterios de elegibilidad</a:t>
            </a:r>
            <a:r>
              <a:rPr lang="es-MX" dirty="0">
                <a:latin typeface="Amasis MT Pro Medium" panose="02040604050005020304" pitchFamily="18" charset="0"/>
              </a:rPr>
              <a:t> (inclusión/exclusión)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>
                <a:latin typeface="Amasis MT Pro Medium" panose="02040604050005020304" pitchFamily="18" charset="0"/>
              </a:rPr>
              <a:t>Estrategia de búsqueda</a:t>
            </a:r>
            <a:r>
              <a:rPr lang="es-MX" dirty="0">
                <a:latin typeface="Amasis MT Pro Medium" panose="02040604050005020304" pitchFamily="18" charset="0"/>
              </a:rPr>
              <a:t> (bases de datos, palabras clave)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>
                <a:latin typeface="Amasis MT Pro Medium" panose="02040604050005020304" pitchFamily="18" charset="0"/>
              </a:rPr>
              <a:t>Selección de estudios</a:t>
            </a:r>
            <a:r>
              <a:rPr lang="es-MX" dirty="0">
                <a:latin typeface="Amasis MT Pro Medium" panose="02040604050005020304" pitchFamily="18" charset="0"/>
              </a:rPr>
              <a:t> (proceso independiente por dos revisores)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>
                <a:latin typeface="Amasis MT Pro Medium" panose="02040604050005020304" pitchFamily="18" charset="0"/>
              </a:rPr>
              <a:t>Extracción de datos</a:t>
            </a:r>
            <a:r>
              <a:rPr lang="es-MX" dirty="0">
                <a:latin typeface="Amasis MT Pro Medium" panose="02040604050005020304" pitchFamily="18" charset="0"/>
              </a:rPr>
              <a:t> (información sistematizada)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>
                <a:latin typeface="Amasis MT Pro Medium" panose="02040604050005020304" pitchFamily="18" charset="0"/>
              </a:rPr>
              <a:t>Evaluación del riesgo de sesgo</a:t>
            </a:r>
            <a:r>
              <a:rPr lang="es-MX" dirty="0">
                <a:latin typeface="Amasis MT Pro Medium" panose="02040604050005020304" pitchFamily="18" charset="0"/>
              </a:rPr>
              <a:t> (herramientas de calidad)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>
                <a:latin typeface="Amasis MT Pro Medium" panose="02040604050005020304" pitchFamily="18" charset="0"/>
              </a:rPr>
              <a:t>Síntesis de datos</a:t>
            </a:r>
            <a:r>
              <a:rPr lang="es-MX" dirty="0">
                <a:latin typeface="Amasis MT Pro Medium" panose="02040604050005020304" pitchFamily="18" charset="0"/>
              </a:rPr>
              <a:t> (cualitativa o metaanálisis)</a:t>
            </a:r>
          </a:p>
          <a:p>
            <a:r>
              <a:rPr lang="es-MX" b="1" dirty="0">
                <a:latin typeface="Amasis MT Pro Medium" panose="02040604050005020304" pitchFamily="18" charset="0"/>
              </a:rPr>
              <a:t>Presentación de Hallazgos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>
                <a:latin typeface="Amasis MT Pro Medium" panose="02040604050005020304" pitchFamily="18" charset="0"/>
              </a:rPr>
              <a:t>Resultados:</a:t>
            </a:r>
            <a:r>
              <a:rPr lang="es-MX" dirty="0">
                <a:latin typeface="Amasis MT Pro Medium" panose="02040604050005020304" pitchFamily="18" charset="0"/>
              </a:rPr>
              <a:t> Hallazgos objetivos y tablas descriptivas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>
                <a:latin typeface="Amasis MT Pro Medium" panose="02040604050005020304" pitchFamily="18" charset="0"/>
              </a:rPr>
              <a:t>Discusión:</a:t>
            </a:r>
            <a:r>
              <a:rPr lang="es-MX" dirty="0">
                <a:latin typeface="Amasis MT Pro Medium" panose="02040604050005020304" pitchFamily="18" charset="0"/>
              </a:rPr>
              <a:t> Interpretación y comparación con literatura existente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>
                <a:latin typeface="Amasis MT Pro Medium" panose="02040604050005020304" pitchFamily="18" charset="0"/>
              </a:rPr>
              <a:t>Conclusiones:</a:t>
            </a:r>
            <a:r>
              <a:rPr lang="es-MX" dirty="0">
                <a:latin typeface="Amasis MT Pro Medium" panose="02040604050005020304" pitchFamily="18" charset="0"/>
              </a:rPr>
              <a:t> Resumen conciso de hallazgos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>
                <a:latin typeface="Amasis MT Pro Medium" panose="02040604050005020304" pitchFamily="18" charset="0"/>
              </a:rPr>
              <a:t>Referencias y Apéndices</a:t>
            </a:r>
            <a:endParaRPr lang="es-MX" dirty="0"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038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074977" y="265807"/>
            <a:ext cx="4042045" cy="542450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s-MX" sz="2000" dirty="0">
                <a:solidFill>
                  <a:srgbClr val="002060"/>
                </a:solidFill>
                <a:latin typeface="Amasis MT Pro Black" panose="02040A04050005020304" pitchFamily="18" charset="0"/>
              </a:rPr>
              <a:t>EJEMPLOS PRÁCTICOS EN EL SECTOR AGRARIO</a:t>
            </a:r>
            <a:endParaRPr lang="es-PE" sz="2000" dirty="0">
              <a:solidFill>
                <a:srgbClr val="002060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6" name="object 10"/>
          <p:cNvSpPr/>
          <p:nvPr/>
        </p:nvSpPr>
        <p:spPr>
          <a:xfrm>
            <a:off x="9650840" y="183960"/>
            <a:ext cx="1955509" cy="5101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9C14403-EFDA-41DA-94FA-A9B197D6484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95960" y="1495107"/>
            <a:ext cx="5037231" cy="441991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3518E10-B8C1-479A-B59F-BAD70DF65608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096000" y="1495107"/>
            <a:ext cx="5400040" cy="44199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918" y="940230"/>
            <a:ext cx="5550241" cy="5550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bject 10"/>
          <p:cNvSpPr/>
          <p:nvPr/>
        </p:nvSpPr>
        <p:spPr>
          <a:xfrm>
            <a:off x="4892911" y="623995"/>
            <a:ext cx="2406177" cy="6324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307</Words>
  <Application>Microsoft Office PowerPoint</Application>
  <PresentationFormat>Panorámica</PresentationFormat>
  <Paragraphs>54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6" baseType="lpstr">
      <vt:lpstr>Aharoni</vt:lpstr>
      <vt:lpstr>Amasis MT Pro Black</vt:lpstr>
      <vt:lpstr>Amasis MT Pro Medium</vt:lpstr>
      <vt:lpstr>Arial</vt:lpstr>
      <vt:lpstr>Calibri</vt:lpstr>
      <vt:lpstr>Calibri Light</vt:lpstr>
      <vt:lpstr>Times New Roman</vt:lpstr>
      <vt:lpstr>Wingdings</vt:lpstr>
      <vt:lpstr>Tema de Office</vt:lpstr>
      <vt:lpstr>Presentación de PowerPoint</vt:lpstr>
      <vt:lpstr>¿Introducción?</vt:lpstr>
      <vt:lpstr>¿Qué es una Revisión Sistemática?</vt:lpstr>
      <vt:lpstr>Presentación de PowerPoint</vt:lpstr>
      <vt:lpstr>Presentación de PowerPoint</vt:lpstr>
      <vt:lpstr>EJEMPLOS PRÁCTICOS EN EL SECTOR AGRARIO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Mayra Tarrillo</dc:creator>
  <cp:lastModifiedBy>ARACELY TUESTA CHICHIPE</cp:lastModifiedBy>
  <cp:revision>25</cp:revision>
  <dcterms:created xsi:type="dcterms:W3CDTF">2025-05-14T00:21:00Z</dcterms:created>
  <dcterms:modified xsi:type="dcterms:W3CDTF">2025-08-25T03:52:07Z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A1834492FFB944D88A5D5730394D0759_12</vt:lpwstr>
  </property>
  <property fmtid="{D5CDD505-2E9C-101B-9397-08002B2CF9AE}" pid="3" name="KSOProductBuildVer">
    <vt:lpwstr>3082-12.2.0.20795</vt:lpwstr>
  </property>
</Properties>
</file>